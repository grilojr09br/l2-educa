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  <p:sldMasterId id="2147483687" r:id="rId5"/>
    <p:sldMasterId id="2147483690" r:id="rId6"/>
  </p:sldMasterIdLst>
  <p:handoutMasterIdLst>
    <p:handoutMasterId r:id="rId20"/>
  </p:handoutMasterIdLst>
  <p:sldIdLst>
    <p:sldId id="257" r:id="rId7"/>
    <p:sldId id="260" r:id="rId8"/>
    <p:sldId id="261" r:id="rId9"/>
    <p:sldId id="262" r:id="rId10"/>
    <p:sldId id="25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8EC"/>
    <a:srgbClr val="005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FA181-4CCC-BB81-FA53-EF757E7DB5D5}" v="1" dt="2024-09-15T18:33:37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2"/>
    <p:restoredTop sz="94699"/>
  </p:normalViewPr>
  <p:slideViewPr>
    <p:cSldViewPr snapToGrid="0" snapToObjects="1">
      <p:cViewPr varScale="1">
        <p:scale>
          <a:sx n="81" d="100"/>
          <a:sy n="81" d="100"/>
        </p:scale>
        <p:origin x="12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1" d="100"/>
          <a:sy n="131" d="100"/>
        </p:scale>
        <p:origin x="41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9EAF81A-F75A-2046-A09C-B4E4E33571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050E3-5379-5E49-BFED-7501DD8905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1F261-BC74-AB48-AFE8-4AC8D275043A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880A0E-70E8-FA48-9C71-7F6C1FC700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F95490-3851-F640-83ED-96ACF317F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809D-82B0-9C46-91CC-BF7E327DD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920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66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51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64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27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6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55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1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23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comunidade.rockcontent.com/substantivo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0976BC82-1E1B-ED46-B169-408877A3B86C}"/>
              </a:ext>
            </a:extLst>
          </p:cNvPr>
          <p:cNvSpPr txBox="1">
            <a:spLocks/>
          </p:cNvSpPr>
          <p:nvPr/>
        </p:nvSpPr>
        <p:spPr>
          <a:xfrm>
            <a:off x="2658359" y="1908964"/>
            <a:ext cx="7324416" cy="328520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400"/>
              </a:lnSpc>
              <a:spcBef>
                <a:spcPts val="450"/>
              </a:spcBef>
            </a:pPr>
            <a:endParaRPr lang="pt-BR" sz="5400" b="1" dirty="0">
              <a:solidFill>
                <a:schemeClr val="bg1"/>
              </a:solidFill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>
              <a:lnSpc>
                <a:spcPts val="5400"/>
              </a:lnSpc>
              <a:spcBef>
                <a:spcPts val="450"/>
              </a:spcBef>
            </a:pPr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Verbos(Parte I)</a:t>
            </a:r>
          </a:p>
          <a:p>
            <a:pPr>
              <a:lnSpc>
                <a:spcPts val="5400"/>
              </a:lnSpc>
              <a:spcBef>
                <a:spcPts val="450"/>
              </a:spcBef>
            </a:pP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Professora Ana Maria Bertini Mardegan</a:t>
            </a:r>
          </a:p>
        </p:txBody>
      </p:sp>
    </p:spTree>
    <p:extLst>
      <p:ext uri="{BB962C8B-B14F-4D97-AF65-F5344CB8AC3E}">
        <p14:creationId xmlns:p14="http://schemas.microsoft.com/office/powerpoint/2010/main" val="3553513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A9CE6DF-4784-47E3-AA4A-23FE6DEE84BC}"/>
              </a:ext>
            </a:extLst>
          </p:cNvPr>
          <p:cNvSpPr/>
          <p:nvPr/>
        </p:nvSpPr>
        <p:spPr>
          <a:xfrm>
            <a:off x="680301" y="1065229"/>
            <a:ext cx="1076383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Verbo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é a classe de palavras que pode indicar, entre outros processos: ação(correr);estado (ficar); fenômeno (chover); ocorrência (nascer); desejo (querer).</a:t>
            </a:r>
          </a:p>
          <a:p>
            <a:pPr algn="ctr">
              <a:spcAft>
                <a:spcPts val="0"/>
              </a:spcAft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Estrutura das Formas Verbais</a:t>
            </a:r>
            <a:endParaRPr lang="pt-B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Do ponto de vista estrutural, uma forma verbal pode apresentar os seguintes elementos: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a) Radical: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a parte invariável, que expressa o significado essencial do verbo.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Exemplo: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fal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-ei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fal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-ava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fal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-am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(radical 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fal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b) Vogal temática: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vogal  que indica a conjugação a que pertence o verbo.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três as conjugações: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1ª- Vogal Temática 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- A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(fal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r)  2ª- Vogal Temática 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- E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(vend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r)  3ª- Vogal Temática - 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(part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r)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b="1" dirty="0"/>
              <a:t>Observação: </a:t>
            </a:r>
            <a:r>
              <a:rPr lang="pt-BR" sz="1600" dirty="0"/>
              <a:t>o verbo pôr, assim como seus derivados (compor, repor, depor, etc.), pertencem à 2ª conjugação, pois a forma arcaica do verbo pôr era </a:t>
            </a:r>
            <a:r>
              <a:rPr lang="pt-BR" sz="1600" dirty="0" err="1"/>
              <a:t>poer</a:t>
            </a:r>
            <a:r>
              <a:rPr lang="pt-BR" sz="1600" dirty="0"/>
              <a:t>. A vogal "e", apesar de haver desaparecido do infinitivo, revela-se em algumas formas do verbo: põe, pões, põem, etc.</a:t>
            </a:r>
          </a:p>
          <a:p>
            <a:pPr algn="ctr">
              <a:spcAft>
                <a:spcPts val="0"/>
              </a:spcAft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/>
              <a:t> </a:t>
            </a:r>
          </a:p>
          <a:p>
            <a:pPr algn="just">
              <a:spcAft>
                <a:spcPts val="0"/>
              </a:spcAft>
            </a:pPr>
            <a:endParaRPr lang="pt-BR" sz="1400" dirty="0">
              <a:solidFill>
                <a:schemeClr val="accent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6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52376C-5DE8-456E-9BE2-D08AF1FD82F4}"/>
              </a:ext>
            </a:extLst>
          </p:cNvPr>
          <p:cNvSpPr/>
          <p:nvPr/>
        </p:nvSpPr>
        <p:spPr>
          <a:xfrm>
            <a:off x="782426" y="1150069"/>
            <a:ext cx="107182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      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c) Tema: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é o radical seguido da vogal temática.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Exemplos: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fala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-r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corre-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parti-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d) Desinência modo-temporal: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o elemento que designa o tempo e o modo do verbo.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Exemplos: falá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mos (indica o pretérito imperfeito do indicativo.)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fala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sse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(indica o pretérito imperfeito do subjuntivo</a:t>
            </a:r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.) 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e) Desinência número-pessoal: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o elemento que designa a pessoa do discurso (1ª, 2ª ou 3ª) e o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número (singular ou plural).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Exemplos:   fala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(indica a 1ª pessoa do plural.)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falava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(indica a 3ª pessoa do plural.)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82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9F725B-CDCF-4A3B-BF8D-A8D2E2105942}"/>
              </a:ext>
            </a:extLst>
          </p:cNvPr>
          <p:cNvSpPr/>
          <p:nvPr/>
        </p:nvSpPr>
        <p:spPr>
          <a:xfrm>
            <a:off x="725864" y="1112363"/>
            <a:ext cx="1064286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Flexões verbais</a:t>
            </a:r>
          </a:p>
          <a:p>
            <a:pPr algn="ctr"/>
            <a:endParaRPr lang="pt-BR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Os verbos são a categoria de palavras que aceita a maior quantidade de flexões. Eles podem se flexionar em pessoa, número, tempo, modo e voz.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Pessoa e número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As pessoas do discurso (também chamadas de “pessoas gramaticais”) são as seguintes: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1ª pessoa: quem fala 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2ª pessoa: com quem se fala;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3ª pessoa: de quem se fala.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É importante não confundir com os pronomes pessoais que as representam (eu/nós, tu/vós, ele/eles, respectivamente). Os verbos, assim como os pronomes citados correspondem ao singular e ao plural.</a:t>
            </a:r>
          </a:p>
          <a:p>
            <a:pPr algn="just">
              <a:spcAft>
                <a:spcPts val="0"/>
              </a:spcAft>
            </a:pP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1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18DE46A-B09F-4B5F-8AAC-A7479BA94216}"/>
              </a:ext>
            </a:extLst>
          </p:cNvPr>
          <p:cNvSpPr/>
          <p:nvPr/>
        </p:nvSpPr>
        <p:spPr>
          <a:xfrm>
            <a:off x="904973" y="1119803"/>
            <a:ext cx="1056744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Tempo e modo</a:t>
            </a:r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dirty="0"/>
              <a:t>  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Além dos três </a:t>
            </a: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básicos: presente, pretérito(passado) e futuro, existem ainda algumas subdivisões do pretérito e do futuro. Assim sendo temos: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base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presente: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indica uma ação que ocorre no momento da fala (“Eu estou muito feliz.”) </a:t>
            </a:r>
          </a:p>
          <a:p>
            <a:pPr lvl="0" fontAlgn="base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uma ação habitual (“Eles vão todos os dias às aulas.”);</a:t>
            </a:r>
          </a:p>
          <a:p>
            <a:pPr lvl="0" fontAlgn="base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uma verdade (“A água ferve a noventa e oito graus centígrados.”), etc.</a:t>
            </a:r>
          </a:p>
          <a:p>
            <a:pPr lvl="0" fontAlgn="base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pretérito perfeito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um fato que aconteceu inteiramente no passado (“Trabalhei muito </a:t>
            </a:r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ontem”)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ou que vem se prolongando até o presente (“Tenho trabalhado apenas às segundas-feiras);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pretérito imperfeito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algo que acontecia continuamente no passado (“Eu trabalhava muito 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antes da quarentena”) ou que aconteceu em relação a outro acontecimento (“Eu redigia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um texto quando minha internet caiu”);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pretérito mais-que-perfeito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algo que se passou antes de outro acontecimento, também no 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    passado (“Eu já me formara quando comecei a trabalhar”);</a:t>
            </a:r>
          </a:p>
        </p:txBody>
      </p:sp>
    </p:spTree>
    <p:extLst>
      <p:ext uri="{BB962C8B-B14F-4D97-AF65-F5344CB8AC3E}">
        <p14:creationId xmlns:p14="http://schemas.microsoft.com/office/powerpoint/2010/main" val="132022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00F1C3-BEC4-48EB-B92D-1FFAE7DF790E}"/>
              </a:ext>
            </a:extLst>
          </p:cNvPr>
          <p:cNvSpPr/>
          <p:nvPr/>
        </p:nvSpPr>
        <p:spPr>
          <a:xfrm>
            <a:off x="970962" y="1395165"/>
            <a:ext cx="103412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futuro do presente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um acontecimento futuro em relação ao momento da fala (“Vou terminar de ler este texto”);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futuro do pretérito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um acontecimento futuro condicionado a uma ação passada (Se você tivesse terminado a leitura, dominaria os verbos”).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Os verbos também variam de acordo com a atitude do falante em relação ao processo indicado pelo verbo, ou seja, o </a:t>
            </a: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verbal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indicativo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é o fato certo, preciso, como em “Escrevo todos os dias”;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subjuntivo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indica uma dúvida do falante em relação ao fato ou, ainda, uma condição para ele:  </a:t>
            </a:r>
          </a:p>
          <a:p>
            <a:pPr lv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“Eu escreveria todos os dias se tivesse tempo”;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imperativo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exprime uma ordem ou um pedido.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“Deixe seu comentário”. </a:t>
            </a:r>
          </a:p>
          <a:p>
            <a:pPr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7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452F2DF-0016-4E61-9E80-6478E29CE8B4}"/>
              </a:ext>
            </a:extLst>
          </p:cNvPr>
          <p:cNvSpPr/>
          <p:nvPr/>
        </p:nvSpPr>
        <p:spPr>
          <a:xfrm>
            <a:off x="867265" y="1300899"/>
            <a:ext cx="1035063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Além de todas essas possibilidades, existem ainda algumas formas verbais que não têm flexão de tempo e modo. São as chamadas 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formas nominais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que recebem esse nome porque cumprem função própria de classes de palavras como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substantivo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, adjetivo e advérbio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São elas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infinitivo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é o verbo em sua forma “pura”, antes de ser flexionado por tempo, modo ou número, e funciona como substantivo. Em alguns casos (para evitar ambiguidades, por exemplo), o infinitivo pode ter flexão de pessoa, dando origem ao chamado “infinitivo pessoal”, como: “Disse aos meninos para juntarem as coisas”;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particípio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o particípio, muitas vezes, cumpre papel de adjetivo e, nesses casos, precisa concordar com o termo a que se refere em número e gênero: “Feitas essas considerações, sigamos em frente”;</a:t>
            </a:r>
          </a:p>
          <a:p>
            <a:pPr lvl="0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gerúndio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 essa forma verbal indica um processo que está acontecendo, cumprindo um papel de adjetivo e advérbio. Um exemplo de gerúndio é “Lendo este artigo, você vai entender tudo sobre verbos”.</a:t>
            </a:r>
          </a:p>
          <a:p>
            <a:pPr algn="just">
              <a:spcAft>
                <a:spcPts val="0"/>
              </a:spcAft>
            </a:pP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333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FAD1386-CE8B-4DE6-8E2C-F8A783A70228}"/>
              </a:ext>
            </a:extLst>
          </p:cNvPr>
          <p:cNvSpPr/>
          <p:nvPr/>
        </p:nvSpPr>
        <p:spPr>
          <a:xfrm>
            <a:off x="1168924" y="1545995"/>
            <a:ext cx="98792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>
              <a:spcAft>
                <a:spcPts val="0"/>
              </a:spcAft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Voz </a:t>
            </a:r>
          </a:p>
          <a:p>
            <a:pPr marL="457200" algn="just">
              <a:spcAft>
                <a:spcPts val="0"/>
              </a:spcAft>
            </a:pPr>
            <a:endParaRPr lang="pt-BR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Além disso tudo, o verbo ainda se flexiona de acordo com a relação estabelecida entre ele e o sujeito, o que ganha o nome de voz. Novamente, são 3 possibilidades:</a:t>
            </a:r>
          </a:p>
          <a:p>
            <a:pPr algn="just"/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voz ativa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é a forma mais comum no português e acontece quando o sujeito é agente, ou seja, ele pratica a ação expressa pelo verbo: “A menina penteou a boneca”;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voz passiva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nesse caso, dizemos que o sujeito é paciente, ou seja, receptor da ação expressa pelo verbo: “A boneca foi penteada pela menina”;</a:t>
            </a:r>
          </a:p>
          <a:p>
            <a:pPr lvl="0" algn="just">
              <a:spcAft>
                <a:spcPts val="0"/>
              </a:spcAft>
              <a:buSzPts val="1000"/>
              <a:tabLst>
                <a:tab pos="457200" algn="l"/>
              </a:tabLst>
            </a:pP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voz reflexiva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acontece quando o sujeito é, ao mesmo tempo, agente e paciente. Nesse caso, o verbo aparece na voz ativa e é seguido de um pronome oblíquo reflexivo: “A menina penteou-se”.</a:t>
            </a:r>
            <a:endParaRPr lang="pt-BR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55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E0A676B-D277-443B-8CED-F6A534AB5AF7}"/>
              </a:ext>
            </a:extLst>
          </p:cNvPr>
          <p:cNvSpPr/>
          <p:nvPr/>
        </p:nvSpPr>
        <p:spPr>
          <a:xfrm>
            <a:off x="952107" y="1348033"/>
            <a:ext cx="10463753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verbal</a:t>
            </a:r>
          </a:p>
          <a:p>
            <a:pPr algn="ctr"/>
            <a:endParaRPr lang="pt-BR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/>
              <a:t>  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Podemos classificar os verbos  quanto à  conjugação e assim teremos: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Verbos regulares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verbos que se encaixam nos modelos fixos de conjugação verbal, não sofrem alterações no radical.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 Exemplos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cantar 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ei,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ava,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asse,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aria)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Verbos irregulares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verbos que não se encaixam nos modelos fixos de conjugação verbal, possuindo alterações nos radicais (normalmente nos tempos do presente, do pretérito perfeito e do infinitivo)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 Exemplos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fazer 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faz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er,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faç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fiz)       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/>
              <a:t>        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Verbos anômalos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verbos que apresentam diferentes radicais quando conjugados.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 Exemplos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ser ( sou, é, fui, era, fosse, seria) e ir (vou, vai, fui, irei, fosse).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marL="457200"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4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D6368D-2A64-4AFF-A495-10072780F471}"/>
              </a:ext>
            </a:extLst>
          </p:cNvPr>
          <p:cNvSpPr/>
          <p:nvPr/>
        </p:nvSpPr>
        <p:spPr>
          <a:xfrm>
            <a:off x="970961" y="1244339"/>
            <a:ext cx="101715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       </a:t>
            </a: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Verbos defectivos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verbos que apresentam conjugações incompletas. Não são conjugados em todas as pessoas verbais, devido a fatores morfológicos, semânticos ou fonéticos.</a:t>
            </a: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Exemplos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 colorir – não apresenta a 1ª pessoa do presente do indicativo, não apresenta o presente do subjuntivo , nem o imperativo negativo.</a:t>
            </a:r>
          </a:p>
          <a:p>
            <a:pPr algn="just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Verbos abundantes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são verbos que possuem duas formas par o particípio, ou seja, particípio duplo com uma forma regular e outra irregular.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   Exemplos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                                                                  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Infinitivo: aceitar, fritar, morrer, …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Particípio regular: aceitado, fritado, morrido, …  A cozinheira tinha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fritado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os peixes.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Particípio irregular: aceito, frito, morto,…  Os peixes foram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fritos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pela cozinheira.</a:t>
            </a:r>
          </a:p>
          <a:p>
            <a:r>
              <a:rPr lang="pt-BR" dirty="0"/>
              <a:t> 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</a:t>
            </a:r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19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2BE3919-7279-4263-AEC2-9F1ABECADA7C}"/>
              </a:ext>
            </a:extLst>
          </p:cNvPr>
          <p:cNvSpPr/>
          <p:nvPr/>
        </p:nvSpPr>
        <p:spPr>
          <a:xfrm>
            <a:off x="961534" y="1253765"/>
            <a:ext cx="10312924" cy="5103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Além dessas classificações, os verbos ainda podem ser 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Verbos impessoais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são verbos que não apresentam sujeito, sendo conjugados sempre na 3.ª pessoa do singular.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Exemplos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verbo haver (com sentido de existir), verbo fazer (indicando tempo decorrido) e verbos que indicam fenômenos atmosférico e da natureza (chover, nevar, ventar, anoitecer).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algn="just"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Faz duas horas que estou esperando você!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Havia várias crianças correndo no parque.</a:t>
            </a:r>
          </a:p>
          <a:p>
            <a:pPr marL="285750" lvl="0" indent="-285750" algn="just"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Todos os dias chove no fim da tarde.</a:t>
            </a:r>
          </a:p>
          <a:p>
            <a:pPr algn="just">
              <a:spcBef>
                <a:spcPts val="200"/>
              </a:spcBef>
              <a:spcAft>
                <a:spcPts val="0"/>
              </a:spcAft>
            </a:pPr>
            <a:r>
              <a:rPr lang="pt-BR" b="1" dirty="0">
                <a:solidFill>
                  <a:srgbClr val="19191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b="1" dirty="0">
              <a:solidFill>
                <a:srgbClr val="2F5496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Verbos unipessoais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são verbos que apresentam sujeito, mas que são conjugados apenas na 3.ª pessoa do singular e na 3.ª pessoa do plural.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Exemplos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verbos relacionados com as vozes dos animais (latir, miar, cacarejar ...), verbos que, na 3.ª pessoa do singular, se relacionam com um sujeito representado por uma oração (convir, custar, acontecer,…).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algn="just"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O cachorro latia sem parar.</a:t>
            </a:r>
          </a:p>
          <a:p>
            <a:pPr marL="285750" lvl="0" indent="-285750" algn="just"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Convém que ele vá ao hospital.</a:t>
            </a: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0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F9D3951-93CB-4AB5-A9AE-ED51FC1B6A49}"/>
              </a:ext>
            </a:extLst>
          </p:cNvPr>
          <p:cNvSpPr/>
          <p:nvPr/>
        </p:nvSpPr>
        <p:spPr>
          <a:xfrm>
            <a:off x="1055801" y="1225485"/>
            <a:ext cx="1016209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Verbos pronominais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são verbos conjugados com os pronomes oblíquos átonos me, te, se, nos, vos, se. 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Exemplos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arrepender-se, suicidar-se, zangar-se</a:t>
            </a:r>
            <a:r>
              <a:rPr lang="pt-BR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queixar-se, 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sentar-se …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Minha mãe se sentou na cadeira.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Minha mãe me sentou na cadeira.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algn="just"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Verbos auxiliares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são verbos que se juntam às formas nominais de um verbo principal, indicando o tempo, o modo, o número e a pessoa da ação verbal. São usados nos tempos compostos e nas locuções verbais.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Exemplos: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ser, estar, ter, haver, poder, dever...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Já estou chegando!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Àquela hora ele já tinha chegado.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Ele poderá chegar atrasado.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algn="just">
              <a:spcAft>
                <a:spcPts val="0"/>
              </a:spcAf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Verbos principais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são verbos que, sozinhos, transmitem a totalidade da ação verbal.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Exemplos</a:t>
            </a: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comer, dançar, saltar, escorregar, sorrir, rir,…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bebê sorriu pela primeira vez.</a:t>
            </a:r>
            <a:endParaRPr lang="pt-BR" sz="2400" dirty="0">
              <a:solidFill>
                <a:srgbClr val="40404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dirty="0">
                <a:solidFill>
                  <a:srgbClr val="40404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Ontem dancei muito!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87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799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6C8E9EAF303849AA661597C48A6E8B" ma:contentTypeVersion="15" ma:contentTypeDescription="Crie um novo documento." ma:contentTypeScope="" ma:versionID="a19ca0b98bbc0384a3992b2cbd6387b4">
  <xsd:schema xmlns:xsd="http://www.w3.org/2001/XMLSchema" xmlns:xs="http://www.w3.org/2001/XMLSchema" xmlns:p="http://schemas.microsoft.com/office/2006/metadata/properties" xmlns:ns2="b38d3e52-8e7a-48a7-ac39-07743f8bce12" xmlns:ns3="15e8d7af-f267-42fe-9afd-60eab1cb2ccc" targetNamespace="http://schemas.microsoft.com/office/2006/metadata/properties" ma:root="true" ma:fieldsID="c1dfa3a03cadb753924253a96d6e4b68" ns2:_="" ns3:_="">
    <xsd:import namespace="b38d3e52-8e7a-48a7-ac39-07743f8bce12"/>
    <xsd:import namespace="15e8d7af-f267-42fe-9afd-60eab1cb2c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8d3e52-8e7a-48a7-ac39-07743f8bce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2347ab84-ad29-4e6b-a938-301aae2e30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e8d7af-f267-42fe-9afd-60eab1cb2c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8d30f70-67dc-4e3a-98fe-309e063258fa}" ma:internalName="TaxCatchAll" ma:showField="CatchAllData" ma:web="15e8d7af-f267-42fe-9afd-60eab1cb2c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8d3e52-8e7a-48a7-ac39-07743f8bce12">
      <Terms xmlns="http://schemas.microsoft.com/office/infopath/2007/PartnerControls"/>
    </lcf76f155ced4ddcb4097134ff3c332f>
    <TaxCatchAll xmlns="15e8d7af-f267-42fe-9afd-60eab1cb2ccc" xsi:nil="true"/>
  </documentManagement>
</p:properties>
</file>

<file path=customXml/itemProps1.xml><?xml version="1.0" encoding="utf-8"?>
<ds:datastoreItem xmlns:ds="http://schemas.openxmlformats.org/officeDocument/2006/customXml" ds:itemID="{074EC0DD-2C96-4EC4-BB97-80588F593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8d3e52-8e7a-48a7-ac39-07743f8bce12"/>
    <ds:schemaRef ds:uri="15e8d7af-f267-42fe-9afd-60eab1cb2c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0697D0-D1E7-4652-9E8B-921439B898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A6C1C4-7354-400D-8C34-E464CF98692A}">
  <ds:schemaRefs>
    <ds:schemaRef ds:uri="http://schemas.microsoft.com/office/2006/metadata/properties"/>
    <ds:schemaRef ds:uri="http://schemas.microsoft.com/office/infopath/2007/PartnerControls"/>
    <ds:schemaRef ds:uri="b38d3e52-8e7a-48a7-ac39-07743f8bce12"/>
    <ds:schemaRef ds:uri="15e8d7af-f267-42fe-9afd-60eab1cb2c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</TotalTime>
  <Words>1740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Personalizar design</vt:lpstr>
      <vt:lpstr>1_Tema do Office</vt:lpstr>
      <vt:lpstr>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Hudson Silva Brito</dc:creator>
  <cp:lastModifiedBy>Ana Maria Bertini Mardegan</cp:lastModifiedBy>
  <cp:revision>33</cp:revision>
  <dcterms:created xsi:type="dcterms:W3CDTF">2019-05-07T20:03:33Z</dcterms:created>
  <dcterms:modified xsi:type="dcterms:W3CDTF">2024-09-15T18:33:55Z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0x010100A76C8E9EAF303849AA661597C48A6E8B</vt:lpwstr>
  </property>
  <property fmtid="{D5CDD505-2E9C-101B-9397-08002B2CF9AE}" pid="3" name="MSIP_Label_8121f2f0-66bc-46a5-8449-e93debbabc43_Enabled">
    <vt:lpwstr>true</vt:lpwstr>
  </property>
  <property fmtid="{D5CDD505-2E9C-101B-9397-08002B2CF9AE}" pid="4" name="MSIP_Label_8121f2f0-66bc-46a5-8449-e93debbabc43_SetDate">
    <vt:lpwstr>2024-09-13T10:14:03Z</vt:lpwstr>
  </property>
  <property fmtid="{D5CDD505-2E9C-101B-9397-08002B2CF9AE}" pid="5" name="MSIP_Label_8121f2f0-66bc-46a5-8449-e93debbabc43_Method">
    <vt:lpwstr>Standard</vt:lpwstr>
  </property>
  <property fmtid="{D5CDD505-2E9C-101B-9397-08002B2CF9AE}" pid="6" name="MSIP_Label_8121f2f0-66bc-46a5-8449-e93debbabc43_Name">
    <vt:lpwstr>defa4170-0d19-0005-0004-bc88714345d2</vt:lpwstr>
  </property>
  <property fmtid="{D5CDD505-2E9C-101B-9397-08002B2CF9AE}" pid="7" name="MSIP_Label_8121f2f0-66bc-46a5-8449-e93debbabc43_SiteId">
    <vt:lpwstr>2795008d-a527-4c78-ba2d-bf4c9c17de0b</vt:lpwstr>
  </property>
  <property fmtid="{D5CDD505-2E9C-101B-9397-08002B2CF9AE}" pid="8" name="MSIP_Label_8121f2f0-66bc-46a5-8449-e93debbabc43_ActionId">
    <vt:lpwstr>bf7cb7ab-d1f5-4edf-947f-feaf368ea4da</vt:lpwstr>
  </property>
  <property fmtid="{D5CDD505-2E9C-101B-9397-08002B2CF9AE}" pid="9" name="MSIP_Label_8121f2f0-66bc-46a5-8449-e93debbabc43_ContentBits">
    <vt:lpwstr>0</vt:lpwstr>
  </property>
  <property fmtid="{D5CDD505-2E9C-101B-9397-08002B2CF9AE}" pid="10" name="MediaServiceImageTags">
    <vt:lpwstr/>
  </property>
</Properties>
</file>