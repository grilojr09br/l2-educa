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  <p:sldMasterId id="2147483687" r:id="rId5"/>
    <p:sldMasterId id="2147483690" r:id="rId6"/>
  </p:sldMasterIdLst>
  <p:handoutMasterIdLst>
    <p:handoutMasterId r:id="rId18"/>
  </p:handoutMasterIdLst>
  <p:sldIdLst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5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8EC"/>
    <a:srgbClr val="005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22"/>
    <p:restoredTop sz="94699"/>
  </p:normalViewPr>
  <p:slideViewPr>
    <p:cSldViewPr snapToGrid="0" snapToObjects="1">
      <p:cViewPr varScale="1">
        <p:scale>
          <a:sx n="81" d="100"/>
          <a:sy n="81" d="100"/>
        </p:scale>
        <p:origin x="12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31" d="100"/>
          <a:sy n="131" d="100"/>
        </p:scale>
        <p:origin x="416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9EAF81A-F75A-2046-A09C-B4E4E33571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050E3-5379-5E49-BFED-7501DD8905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1F261-BC74-AB48-AFE8-4AC8D275043A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880A0E-70E8-FA48-9C71-7F6C1FC700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F95490-3851-F640-83ED-96ACF317F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809D-82B0-9C46-91CC-BF7E327DD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920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66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51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64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27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6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55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01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23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0976BC82-1E1B-ED46-B169-408877A3B86C}"/>
              </a:ext>
            </a:extLst>
          </p:cNvPr>
          <p:cNvSpPr txBox="1">
            <a:spLocks/>
          </p:cNvSpPr>
          <p:nvPr/>
        </p:nvSpPr>
        <p:spPr>
          <a:xfrm>
            <a:off x="1536568" y="1593130"/>
            <a:ext cx="9605913" cy="3627565"/>
          </a:xfrm>
          <a:prstGeom prst="rect">
            <a:avLst/>
          </a:prstGeom>
        </p:spPr>
        <p:txBody>
          <a:bodyPr vert="horz" lIns="68580" tIns="34290" rIns="68580" bIns="3429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400"/>
              </a:lnSpc>
              <a:spcBef>
                <a:spcPts val="450"/>
              </a:spcBef>
            </a:pPr>
            <a:r>
              <a:rPr lang="pt-BR" sz="6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>
              <a:lnSpc>
                <a:spcPts val="5400"/>
              </a:lnSpc>
              <a:spcBef>
                <a:spcPts val="450"/>
              </a:spcBef>
            </a:pPr>
            <a:r>
              <a:rPr lang="pt-BR" sz="26400" b="1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Verbos(Parte II)</a:t>
            </a:r>
          </a:p>
          <a:p>
            <a:pPr>
              <a:lnSpc>
                <a:spcPts val="5400"/>
              </a:lnSpc>
              <a:spcBef>
                <a:spcPts val="450"/>
              </a:spcBef>
            </a:pPr>
            <a:endParaRPr lang="pt-BR" sz="2800" b="1" dirty="0">
              <a:solidFill>
                <a:schemeClr val="bg1"/>
              </a:solidFill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>
              <a:lnSpc>
                <a:spcPts val="5400"/>
              </a:lnSpc>
              <a:spcBef>
                <a:spcPts val="450"/>
              </a:spcBef>
            </a:pPr>
            <a:endParaRPr lang="pt-BR" sz="2800" b="1" dirty="0">
              <a:solidFill>
                <a:schemeClr val="bg1"/>
              </a:solidFill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>
              <a:lnSpc>
                <a:spcPts val="5400"/>
              </a:lnSpc>
              <a:spcBef>
                <a:spcPts val="450"/>
              </a:spcBef>
            </a:pPr>
            <a:r>
              <a:rPr lang="pt-BR" sz="11200" b="1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Professora Ana Maria Bertini Mardegan</a:t>
            </a:r>
          </a:p>
        </p:txBody>
      </p:sp>
    </p:spTree>
    <p:extLst>
      <p:ext uri="{BB962C8B-B14F-4D97-AF65-F5344CB8AC3E}">
        <p14:creationId xmlns:p14="http://schemas.microsoft.com/office/powerpoint/2010/main" val="3553513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B249124-B0FA-E64F-8330-67E4738C2454}"/>
              </a:ext>
            </a:extLst>
          </p:cNvPr>
          <p:cNvSpPr txBox="1"/>
          <p:nvPr/>
        </p:nvSpPr>
        <p:spPr>
          <a:xfrm>
            <a:off x="7943363" y="413661"/>
            <a:ext cx="3609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005287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Título da apresentação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C48B2E-6BC8-0943-AB3D-5F47C69B56D7}"/>
              </a:ext>
            </a:extLst>
          </p:cNvPr>
          <p:cNvSpPr txBox="1"/>
          <p:nvPr/>
        </p:nvSpPr>
        <p:spPr>
          <a:xfrm>
            <a:off x="8057232" y="6015807"/>
            <a:ext cx="360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00" b="1" dirty="0">
                <a:solidFill>
                  <a:srgbClr val="A1D8E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Nome da superintendência</a:t>
            </a:r>
          </a:p>
          <a:p>
            <a:pPr algn="r"/>
            <a:r>
              <a:rPr lang="pt-BR" sz="900" dirty="0">
                <a:solidFill>
                  <a:srgbClr val="A1D8E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Nome da gerência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2BF219D-BB79-4ACB-86FA-8AC80C0DA719}"/>
              </a:ext>
            </a:extLst>
          </p:cNvPr>
          <p:cNvSpPr/>
          <p:nvPr/>
        </p:nvSpPr>
        <p:spPr>
          <a:xfrm>
            <a:off x="942680" y="980388"/>
            <a:ext cx="1047318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primitivos e derivados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pt-BR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Os tempos verbais nada mais são do que tempos que são formados um a partir do outro. Sabendo disso, é possível criar uma divisão entre eles: Tempos Primitivos e Tempos Derivados. Abaixo, os tempos primitivos e seus respectivos derivados:</a:t>
            </a:r>
          </a:p>
          <a:p>
            <a:pPr algn="just">
              <a:spcAft>
                <a:spcPts val="0"/>
              </a:spcAft>
            </a:pPr>
            <a:endParaRPr lang="pt-BR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423A21A-6E93-4D94-99D9-1395F8225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838841"/>
              </p:ext>
            </p:extLst>
          </p:nvPr>
        </p:nvGraphicFramePr>
        <p:xfrm>
          <a:off x="2077979" y="2623372"/>
          <a:ext cx="7613432" cy="34847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06716">
                  <a:extLst>
                    <a:ext uri="{9D8B030D-6E8A-4147-A177-3AD203B41FA5}">
                      <a16:colId xmlns:a16="http://schemas.microsoft.com/office/drawing/2014/main" val="4141261192"/>
                    </a:ext>
                  </a:extLst>
                </a:gridCol>
                <a:gridCol w="3806716">
                  <a:extLst>
                    <a:ext uri="{9D8B030D-6E8A-4147-A177-3AD203B41FA5}">
                      <a16:colId xmlns:a16="http://schemas.microsoft.com/office/drawing/2014/main" val="3888683198"/>
                    </a:ext>
                  </a:extLst>
                </a:gridCol>
              </a:tblGrid>
              <a:tr h="28219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Tempos primitivos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Tempos derivados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98742808"/>
                  </a:ext>
                </a:extLst>
              </a:tr>
              <a:tr h="7198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Presente do indicativo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Presente do subjuntivo</a:t>
                      </a:r>
                      <a:b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Imperativo afirmativo</a:t>
                      </a:r>
                      <a:b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Imperativo negativo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3248648048"/>
                  </a:ext>
                </a:extLst>
              </a:tr>
              <a:tr h="7198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perfeito do indicativo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mais-que-perfeito do indicativo</a:t>
                      </a:r>
                      <a:b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imperfeito do subjuntivo</a:t>
                      </a:r>
                      <a:b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do subjuntivo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537773501"/>
                  </a:ext>
                </a:extLst>
              </a:tr>
              <a:tr h="15323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Infinitivo impessoal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imperfeito do indicativo</a:t>
                      </a:r>
                      <a:b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do presente do indicativo</a:t>
                      </a:r>
                      <a:b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do pretérito do indicativo</a:t>
                      </a:r>
                      <a:b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Gerúndio</a:t>
                      </a:r>
                      <a:b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Particípio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390595399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10A0F0E-A1EB-4A23-BE0A-1E92E4533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006" y="2831078"/>
            <a:ext cx="7541443" cy="447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22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A2DA76-9BF4-496C-BF6B-FDE2647F6B83}"/>
              </a:ext>
            </a:extLst>
          </p:cNvPr>
          <p:cNvSpPr/>
          <p:nvPr/>
        </p:nvSpPr>
        <p:spPr>
          <a:xfrm>
            <a:off x="810705" y="1112364"/>
            <a:ext cx="108785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derivados do presente do indicativo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Observe o quadro a seguir       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   do indicativo     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Imperativo afirmativo    Presente do subjuntivo      Imperativo negativo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 canto ø                          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-----------                             que eu cante ø                    -------------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Tu cantas                                canta tu                             que tu cantes          =         não cantes tu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Ele canta ø                             cante você                         que ele cante ø       =         não cante você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Nós cantamos                        cantemos nós                    que nós cantemos   =         não cantemos nós      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Vós cantais                            cantai vós                           que vós canteis       =         não canteis vós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Eles cantam                           cantem vocês                     que eles cantem      =         não cantem vocês</a:t>
            </a:r>
          </a:p>
          <a:p>
            <a:pPr algn="just">
              <a:spcAft>
                <a:spcPts val="0"/>
              </a:spcAft>
            </a:pP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140E3992-C289-4E66-A3D2-E68FD02D773F}"/>
              </a:ext>
            </a:extLst>
          </p:cNvPr>
          <p:cNvCxnSpPr>
            <a:cxnSpLocks/>
          </p:cNvCxnSpPr>
          <p:nvPr/>
        </p:nvCxnSpPr>
        <p:spPr>
          <a:xfrm>
            <a:off x="2290713" y="3987538"/>
            <a:ext cx="1216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8613A89-4214-48F8-93F4-77E777F752C2}"/>
              </a:ext>
            </a:extLst>
          </p:cNvPr>
          <p:cNvCxnSpPr>
            <a:cxnSpLocks/>
          </p:cNvCxnSpPr>
          <p:nvPr/>
        </p:nvCxnSpPr>
        <p:spPr>
          <a:xfrm>
            <a:off x="2290713" y="4751109"/>
            <a:ext cx="1216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E362E3E0-6719-4ED6-83E1-E86763FB70DD}"/>
              </a:ext>
            </a:extLst>
          </p:cNvPr>
          <p:cNvCxnSpPr>
            <a:cxnSpLocks/>
          </p:cNvCxnSpPr>
          <p:nvPr/>
        </p:nvCxnSpPr>
        <p:spPr>
          <a:xfrm flipH="1">
            <a:off x="5392132" y="4251489"/>
            <a:ext cx="857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2EE87E2-7407-4CD3-8A3C-5DC1CC1FEEB1}"/>
              </a:ext>
            </a:extLst>
          </p:cNvPr>
          <p:cNvCxnSpPr>
            <a:cxnSpLocks/>
          </p:cNvCxnSpPr>
          <p:nvPr/>
        </p:nvCxnSpPr>
        <p:spPr>
          <a:xfrm flipH="1">
            <a:off x="5392132" y="4524866"/>
            <a:ext cx="857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903C468-1B7A-4AA6-9584-9FBAE29D2C9F}"/>
              </a:ext>
            </a:extLst>
          </p:cNvPr>
          <p:cNvCxnSpPr>
            <a:cxnSpLocks/>
          </p:cNvCxnSpPr>
          <p:nvPr/>
        </p:nvCxnSpPr>
        <p:spPr>
          <a:xfrm flipH="1">
            <a:off x="5392132" y="5090474"/>
            <a:ext cx="8295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8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65FB70-F0C4-44A5-822E-6D35A49AC822}"/>
              </a:ext>
            </a:extLst>
          </p:cNvPr>
          <p:cNvSpPr/>
          <p:nvPr/>
        </p:nvSpPr>
        <p:spPr>
          <a:xfrm>
            <a:off x="914399" y="1074656"/>
            <a:ext cx="10492033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derivados do pretérito perfeito do indicativo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pessoa que nos importa agora  é a </a:t>
            </a:r>
            <a:r>
              <a:rPr lang="pt-BR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3ª pessoa do plural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da seguinte forma:</a:t>
            </a:r>
          </a:p>
          <a:p>
            <a:pPr algn="just">
              <a:spcAft>
                <a:spcPts val="0"/>
              </a:spcAft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ELES CANTARAM                       </a:t>
            </a:r>
            <a:endParaRPr lang="pt-BR" sz="24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Pret. mais que prefeito do Ind.       Futuro do subj.          Pretérito imperfeito do subj.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b="1" dirty="0">
                <a:solidFill>
                  <a:srgbClr val="444444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br>
              <a:rPr lang="pt-BR" sz="2000" b="1" dirty="0">
                <a:solidFill>
                  <a:srgbClr val="444444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CANTARA (m)                              CANTAR (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                    CANTA (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ram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+ SSE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Eu cantara ø                               Quando eu cantar ø                 Se eu canta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sse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ø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Tu cantara s                                Quando tu cantar(e)s               Se tu canta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sse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Ele cantara ø                               Quando ele cantar ø                Se ele canta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sse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ø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Nós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cantára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Quando nós cantar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Se nós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cantá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sse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Vós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cantáre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Quando vós cantar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Se vós canta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sse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Eles cantara m                             Quando eles cantar(e)m          Se eles canta </a:t>
            </a:r>
            <a:r>
              <a:rPr lang="pt-BR" sz="2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sse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Zoom de Slide 3">
                <a:extLst>
                  <a:ext uri="{FF2B5EF4-FFF2-40B4-BE49-F238E27FC236}">
                    <a16:creationId xmlns:a16="http://schemas.microsoft.com/office/drawing/2014/main" id="{D10131B9-E4DE-439F-BFD2-E74A0C4F41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73295860"/>
                  </p:ext>
                </p:extLst>
              </p:nvPr>
            </p:nvGraphicFramePr>
            <p:xfrm>
              <a:off x="-3655007" y="56522"/>
              <a:ext cx="3048000" cy="1714500"/>
            </p:xfrm>
            <a:graphic>
              <a:graphicData uri="http://schemas.microsoft.com/office/powerpoint/2016/slidezoom">
                <pslz:sldZm>
                  <pslz:sldZmObj sldId="260" cId="3007832256">
                    <pslz:zmPr id="{4FE5A5FC-42EC-4D67-AA64-7CE572DA78F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Zoom de Slide 3">
                <a:extLst>
                  <a:ext uri="{FF2B5EF4-FFF2-40B4-BE49-F238E27FC236}">
                    <a16:creationId xmlns:a16="http://schemas.microsoft.com/office/drawing/2014/main" id="{D10131B9-E4DE-439F-BFD2-E74A0C4F41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655007" y="5652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45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952F23-398E-4207-9CBB-5F65A96B3679}"/>
              </a:ext>
            </a:extLst>
          </p:cNvPr>
          <p:cNvSpPr/>
          <p:nvPr/>
        </p:nvSpPr>
        <p:spPr>
          <a:xfrm>
            <a:off x="688157" y="1197204"/>
            <a:ext cx="10897385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derivados do infinitivo impessoal                        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Infinitivo impessoal = “nome” do verbo (cantar, comer, gastar, ver, partir, permitir, etc.)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pt-BR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Pretérito  Imperfeito do Ind.    Futuro do Presente do Ind.       Futuro do Pretérito do Ind.</a:t>
            </a:r>
          </a:p>
          <a:p>
            <a:pPr>
              <a:spcAft>
                <a:spcPts val="0"/>
              </a:spcAft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Inf. Impes.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 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 </a:t>
            </a:r>
            <a:r>
              <a:rPr lang="pt-BR" sz="1600" b="1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(ou</a:t>
            </a:r>
            <a:r>
              <a:rPr lang="pt-B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ia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 </a:t>
            </a:r>
            <a:r>
              <a:rPr lang="pt-B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Inf. Impes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.+ -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ei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-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ás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-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á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-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emos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-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eis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-</a:t>
            </a:r>
            <a:r>
              <a:rPr lang="pt-BR" sz="1600" b="1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ão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  </a:t>
            </a:r>
            <a:r>
              <a:rPr lang="pt-B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Inf. Impes.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</a:t>
            </a:r>
            <a:r>
              <a:rPr lang="pt-B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ia, -ias, -ia, -íamos, -íeis, -iam </a:t>
            </a:r>
          </a:p>
          <a:p>
            <a:pPr algn="just">
              <a:spcAft>
                <a:spcPts val="0"/>
              </a:spcAft>
            </a:pP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</a:t>
            </a:r>
            <a:endParaRPr lang="pt-BR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Eu canta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ø                          Eu cantar ei ø                                   Eu cantar ia ø </a:t>
            </a: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Tu canta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                           Tu cantar á s                                     Tu cantar ia s</a:t>
            </a: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Ele cantava ø                           Ele cantar á  ø                                  Ele cantar ia ø</a:t>
            </a: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Nós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cantá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Nós cantar e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Nós cantar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ía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Vós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cantá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Vós cantar e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Vós cantar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íe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Eles canta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                        Eles cantar ã o                                 Eles cantar ia m</a:t>
            </a:r>
          </a:p>
          <a:p>
            <a:pPr algn="just">
              <a:spcAft>
                <a:spcPts val="0"/>
              </a:spcAft>
            </a:pP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64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76EECF0-6D63-4EEC-937A-BECBDE44D700}"/>
              </a:ext>
            </a:extLst>
          </p:cNvPr>
          <p:cNvSpPr/>
          <p:nvPr/>
        </p:nvSpPr>
        <p:spPr>
          <a:xfrm>
            <a:off x="838987" y="1508289"/>
            <a:ext cx="109539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pt-BR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Infinitivo pessoal                                 Gerúndio                                    Particípio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</a:t>
            </a:r>
            <a:r>
              <a:rPr lang="pt-BR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finitivo impessoal</a:t>
            </a:r>
            <a:r>
              <a:rPr lang="pt-B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Des. Nº pessoais     </a:t>
            </a:r>
            <a:r>
              <a:rPr lang="pt-BR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Infinitivo impessoal</a:t>
            </a:r>
            <a:r>
              <a:rPr lang="pt-B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r + </a:t>
            </a:r>
            <a:r>
              <a:rPr lang="pt-BR" sz="1600" b="1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ndo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</a:t>
            </a:r>
            <a:r>
              <a:rPr lang="pt-BR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Infinitivo impessoal </a:t>
            </a:r>
            <a:r>
              <a:rPr lang="pt-B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r</a:t>
            </a:r>
            <a:r>
              <a:rPr lang="pt-BR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</a:t>
            </a:r>
            <a:endParaRPr lang="pt-BR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Cantar 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ø                                                  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Canta </a:t>
            </a:r>
            <a:r>
              <a:rPr lang="pt-BR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ndo</a:t>
            </a:r>
            <a:r>
              <a:rPr lang="pt-BR" sz="2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Canta do</a:t>
            </a:r>
            <a:r>
              <a:rPr lang="pt-BR" sz="200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Cantar(e) 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Cantar 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ø</a:t>
            </a: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Cantar </a:t>
            </a:r>
            <a:r>
              <a:rPr lang="pt-BR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</a:t>
            </a:r>
          </a:p>
          <a:p>
            <a:pPr algn="just">
              <a:spcAft>
                <a:spcPts val="0"/>
              </a:spcAft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Cantar </a:t>
            </a:r>
            <a:r>
              <a:rPr lang="pt-BR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</a:t>
            </a:r>
          </a:p>
          <a:p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Cantar(e) 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19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826379-308A-4F8D-8221-3CCB9EBD7A10}"/>
              </a:ext>
            </a:extLst>
          </p:cNvPr>
          <p:cNvSpPr/>
          <p:nvPr/>
        </p:nvSpPr>
        <p:spPr>
          <a:xfrm>
            <a:off x="1055801" y="999241"/>
            <a:ext cx="102846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</a:t>
            </a: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Compostos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Os </a:t>
            </a: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verbais compostos 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são formados por um verbo auxiliar (ter ou haver) e um verbo principal no particípio. 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compostos do modo indicativo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   pretérito perfeito composto do indicativo;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pretérito mais-que-perfeito composto do indicativo;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futuro do presente composto do indicativo;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futuro do pretérito composto do indicativo.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Tempos compostos do modo subjuntivo:     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pretérito perfeito composto do subjuntivo; 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pretérito mais-que-perfeito composto do subjuntivo;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futuro composto do subjuntivo.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Formas nominais compostas:                        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infinitivo pessoal composto;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infinitivo impessoal composto;</a:t>
            </a:r>
            <a:endParaRPr lang="pt-B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gerúndio composto.</a:t>
            </a:r>
            <a:endParaRPr lang="pt-BR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610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08F93D-3BE6-4D02-92E0-F68A9B88AB8A}"/>
              </a:ext>
            </a:extLst>
          </p:cNvPr>
          <p:cNvSpPr/>
          <p:nvPr/>
        </p:nvSpPr>
        <p:spPr>
          <a:xfrm>
            <a:off x="3205113" y="641023"/>
            <a:ext cx="60520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rgbClr val="22222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Conjugação dos tempos compostos do indicativo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F7185E8-7AA2-4F7F-A424-ABA8C2065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974559"/>
              </p:ext>
            </p:extLst>
          </p:nvPr>
        </p:nvGraphicFramePr>
        <p:xfrm>
          <a:off x="1819373" y="1187775"/>
          <a:ext cx="8531258" cy="51282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6350">
                  <a:extLst>
                    <a:ext uri="{9D8B030D-6E8A-4147-A177-3AD203B41FA5}">
                      <a16:colId xmlns:a16="http://schemas.microsoft.com/office/drawing/2014/main" val="2917309897"/>
                    </a:ext>
                  </a:extLst>
                </a:gridCol>
                <a:gridCol w="2933091">
                  <a:extLst>
                    <a:ext uri="{9D8B030D-6E8A-4147-A177-3AD203B41FA5}">
                      <a16:colId xmlns:a16="http://schemas.microsoft.com/office/drawing/2014/main" val="1871580396"/>
                    </a:ext>
                  </a:extLst>
                </a:gridCol>
                <a:gridCol w="3331817">
                  <a:extLst>
                    <a:ext uri="{9D8B030D-6E8A-4147-A177-3AD203B41FA5}">
                      <a16:colId xmlns:a16="http://schemas.microsoft.com/office/drawing/2014/main" val="209238489"/>
                    </a:ext>
                  </a:extLst>
                </a:gridCol>
              </a:tblGrid>
              <a:tr h="3220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Tempo composto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Formação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estudar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 anchor="ctr"/>
                </a:tc>
                <a:extLst>
                  <a:ext uri="{0D108BD9-81ED-4DB2-BD59-A6C34878D82A}">
                    <a16:rowId xmlns:a16="http://schemas.microsoft.com/office/drawing/2014/main" val="787983228"/>
                  </a:ext>
                </a:extLst>
              </a:tr>
              <a:tr h="1176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perfeito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composto do indicativo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presente do indicativo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(Eu) tenho estudado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(Tu) tens estudado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(Ele) tem estudado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(Nós) temos estudado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(Vós) tendes estudado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(Eles) têm estudado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extLst>
                  <a:ext uri="{0D108BD9-81ED-4DB2-BD59-A6C34878D82A}">
                    <a16:rowId xmlns:a16="http://schemas.microsoft.com/office/drawing/2014/main" val="2235513442"/>
                  </a:ext>
                </a:extLst>
              </a:tr>
              <a:tr h="1176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mais-que-perfeito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composto do indicativo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imperfeito 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indicativo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(Eu) tinha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(Tu) tinhas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(Ele) tinha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(Nós) tínhamos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(Vós) tínheis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(Eles) tinham estudado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extLst>
                  <a:ext uri="{0D108BD9-81ED-4DB2-BD59-A6C34878D82A}">
                    <a16:rowId xmlns:a16="http://schemas.microsoft.com/office/drawing/2014/main" val="3445952504"/>
                  </a:ext>
                </a:extLst>
              </a:tr>
              <a:tr h="1176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do presente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composto do indicativo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do presente simples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indicativo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(Eu) terei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(Tu) terás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(Ele) terá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(Nós) teremos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(Vós) tereis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(Eles) terão estudado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extLst>
                  <a:ext uri="{0D108BD9-81ED-4DB2-BD59-A6C34878D82A}">
                    <a16:rowId xmlns:a16="http://schemas.microsoft.com/office/drawing/2014/main" val="1859703068"/>
                  </a:ext>
                </a:extLst>
              </a:tr>
              <a:tr h="1176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do pretérito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composto do indicativo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do pretérito simples</a:t>
                      </a:r>
                      <a:b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indicativo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(Eu) teria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(Tu) terias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(Ele) teria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(Nós) teríamos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(Vós) teríeis estudado</a:t>
                      </a:r>
                      <a:b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(Eles) teriam estudado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9115" marR="69115" marT="69115" marB="69115"/>
                </a:tc>
                <a:extLst>
                  <a:ext uri="{0D108BD9-81ED-4DB2-BD59-A6C34878D82A}">
                    <a16:rowId xmlns:a16="http://schemas.microsoft.com/office/drawing/2014/main" val="123311288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FDA3C82-7A5F-488F-BBB3-463D99457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55" y="1825625"/>
            <a:ext cx="1421562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022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C8E445-CED8-4EE4-A6C0-389C50DF2295}"/>
              </a:ext>
            </a:extLst>
          </p:cNvPr>
          <p:cNvSpPr/>
          <p:nvPr/>
        </p:nvSpPr>
        <p:spPr>
          <a:xfrm>
            <a:off x="3214539" y="581754"/>
            <a:ext cx="6065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Conjugação dos tempos compostos do subjuntivo</a:t>
            </a:r>
            <a:endParaRPr lang="pt-BR" sz="2000" b="1" dirty="0">
              <a:solidFill>
                <a:srgbClr val="1F3763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0DA9B06-D06F-4B3A-B514-61A65B99F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77716"/>
              </p:ext>
            </p:extLst>
          </p:nvPr>
        </p:nvGraphicFramePr>
        <p:xfrm>
          <a:off x="1904214" y="1253765"/>
          <a:ext cx="8728118" cy="47480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8647">
                  <a:extLst>
                    <a:ext uri="{9D8B030D-6E8A-4147-A177-3AD203B41FA5}">
                      <a16:colId xmlns:a16="http://schemas.microsoft.com/office/drawing/2014/main" val="1251346329"/>
                    </a:ext>
                  </a:extLst>
                </a:gridCol>
                <a:gridCol w="3000772">
                  <a:extLst>
                    <a:ext uri="{9D8B030D-6E8A-4147-A177-3AD203B41FA5}">
                      <a16:colId xmlns:a16="http://schemas.microsoft.com/office/drawing/2014/main" val="1804092295"/>
                    </a:ext>
                  </a:extLst>
                </a:gridCol>
                <a:gridCol w="3408699">
                  <a:extLst>
                    <a:ext uri="{9D8B030D-6E8A-4147-A177-3AD203B41FA5}">
                      <a16:colId xmlns:a16="http://schemas.microsoft.com/office/drawing/2014/main" val="1230146436"/>
                    </a:ext>
                  </a:extLst>
                </a:gridCol>
              </a:tblGrid>
              <a:tr h="3645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Tempo composto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Formação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estudar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09309218"/>
                  </a:ext>
                </a:extLst>
              </a:tr>
              <a:tr h="1332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perfeito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composto do subjuntivo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presente do subjuntivo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(Que eu) tenha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(Que tu) tenhas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(Que ele) tenha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(Que nós) tenhamos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(Que vós) tenhais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(Que eles) tenham estudado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46619054"/>
                  </a:ext>
                </a:extLst>
              </a:tr>
              <a:tr h="1332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mais-que-perfeito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composto do subjuntivo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pretérito imperfeito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subjuntivo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(Se eu) tivesse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(Se tu) tivesses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(Se ele) tivesse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(Se nós) tivéssemos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(Se vós) tivésseis estudado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(Se eles) tivessem estudado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76888077"/>
                  </a:ext>
                </a:extLst>
              </a:tr>
              <a:tr h="17191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composto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subjuntivo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 simples do</a:t>
                      </a:r>
                      <a:b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subjuntivo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(Quando eu) tiver estudado</a:t>
                      </a:r>
                      <a:b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(Quando tu) tiveres estudado</a:t>
                      </a:r>
                      <a:b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(Quando ele) tiver estudado</a:t>
                      </a:r>
                      <a:b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(Quando nós) tivermos estudado</a:t>
                      </a:r>
                      <a:b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(Quando vós) tiverdes estudado</a:t>
                      </a:r>
                      <a:b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(Quando eles) tiverem estudado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4306515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EDC1CB3-B18D-44D5-925A-084B7C77B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98765" y="1914887"/>
            <a:ext cx="23082626" cy="54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552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CB0BABE-054B-4CC9-9607-F3EB982EC752}"/>
              </a:ext>
            </a:extLst>
          </p:cNvPr>
          <p:cNvSpPr/>
          <p:nvPr/>
        </p:nvSpPr>
        <p:spPr>
          <a:xfrm>
            <a:off x="3440784" y="1093509"/>
            <a:ext cx="57556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Conjugação das formas nominais compostas</a:t>
            </a:r>
            <a:endParaRPr lang="pt-BR" sz="2000" b="1" dirty="0">
              <a:solidFill>
                <a:srgbClr val="1F3763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9E44A58-1795-4271-BF06-5C1FB5046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88865"/>
              </p:ext>
            </p:extLst>
          </p:nvPr>
        </p:nvGraphicFramePr>
        <p:xfrm>
          <a:off x="1960775" y="1677970"/>
          <a:ext cx="8559538" cy="46334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8315">
                  <a:extLst>
                    <a:ext uri="{9D8B030D-6E8A-4147-A177-3AD203B41FA5}">
                      <a16:colId xmlns:a16="http://schemas.microsoft.com/office/drawing/2014/main" val="874359958"/>
                    </a:ext>
                  </a:extLst>
                </a:gridCol>
                <a:gridCol w="2945411">
                  <a:extLst>
                    <a:ext uri="{9D8B030D-6E8A-4147-A177-3AD203B41FA5}">
                      <a16:colId xmlns:a16="http://schemas.microsoft.com/office/drawing/2014/main" val="2664116131"/>
                    </a:ext>
                  </a:extLst>
                </a:gridCol>
                <a:gridCol w="3345812">
                  <a:extLst>
                    <a:ext uri="{9D8B030D-6E8A-4147-A177-3AD203B41FA5}">
                      <a16:colId xmlns:a16="http://schemas.microsoft.com/office/drawing/2014/main" val="3100619624"/>
                    </a:ext>
                  </a:extLst>
                </a:gridCol>
              </a:tblGrid>
              <a:tr h="4475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 nominal composta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Formação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estudar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779092339"/>
                  </a:ext>
                </a:extLst>
              </a:tr>
              <a:tr h="15348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Infinitivo pessoal composto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infinitivo pessoal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(Eu) ter estudado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(Tu) teres estudado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(Ele) ter estudado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(Nós) termos estudado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(Vós) terdes estudado 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(Eles) terem estudado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644647613"/>
                  </a:ext>
                </a:extLst>
              </a:tr>
              <a:tr h="92409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Infinitivo impessoal composto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infinitivo impessoal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 estudado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237870788"/>
                  </a:ext>
                </a:extLst>
              </a:tr>
              <a:tr h="92409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Gerúndio composto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auxiliar ter:</a:t>
                      </a:r>
                      <a:b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gerúndio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Verbo principal: particípio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tendo estudado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832356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34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7990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8d3e52-8e7a-48a7-ac39-07743f8bce12">
      <Terms xmlns="http://schemas.microsoft.com/office/infopath/2007/PartnerControls"/>
    </lcf76f155ced4ddcb4097134ff3c332f>
    <TaxCatchAll xmlns="15e8d7af-f267-42fe-9afd-60eab1cb2c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76C8E9EAF303849AA661597C48A6E8B" ma:contentTypeVersion="15" ma:contentTypeDescription="Crie um novo documento." ma:contentTypeScope="" ma:versionID="a19ca0b98bbc0384a3992b2cbd6387b4">
  <xsd:schema xmlns:xsd="http://www.w3.org/2001/XMLSchema" xmlns:xs="http://www.w3.org/2001/XMLSchema" xmlns:p="http://schemas.microsoft.com/office/2006/metadata/properties" xmlns:ns2="b38d3e52-8e7a-48a7-ac39-07743f8bce12" xmlns:ns3="15e8d7af-f267-42fe-9afd-60eab1cb2ccc" targetNamespace="http://schemas.microsoft.com/office/2006/metadata/properties" ma:root="true" ma:fieldsID="c1dfa3a03cadb753924253a96d6e4b68" ns2:_="" ns3:_="">
    <xsd:import namespace="b38d3e52-8e7a-48a7-ac39-07743f8bce12"/>
    <xsd:import namespace="15e8d7af-f267-42fe-9afd-60eab1cb2c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8d3e52-8e7a-48a7-ac39-07743f8bce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2347ab84-ad29-4e6b-a938-301aae2e30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e8d7af-f267-42fe-9afd-60eab1cb2c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8d30f70-67dc-4e3a-98fe-309e063258fa}" ma:internalName="TaxCatchAll" ma:showField="CatchAllData" ma:web="15e8d7af-f267-42fe-9afd-60eab1cb2c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A6C1C4-7354-400D-8C34-E464CF98692A}">
  <ds:schemaRefs>
    <ds:schemaRef ds:uri="http://schemas.microsoft.com/office/2006/metadata/properties"/>
    <ds:schemaRef ds:uri="http://schemas.microsoft.com/office/infopath/2007/PartnerControls"/>
    <ds:schemaRef ds:uri="b38d3e52-8e7a-48a7-ac39-07743f8bce12"/>
    <ds:schemaRef ds:uri="15e8d7af-f267-42fe-9afd-60eab1cb2ccc"/>
  </ds:schemaRefs>
</ds:datastoreItem>
</file>

<file path=customXml/itemProps2.xml><?xml version="1.0" encoding="utf-8"?>
<ds:datastoreItem xmlns:ds="http://schemas.openxmlformats.org/officeDocument/2006/customXml" ds:itemID="{350697D0-D1E7-4652-9E8B-921439B898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851FD4-FCC6-45B8-8CC0-E9D6D20F50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8d3e52-8e7a-48a7-ac39-07743f8bce12"/>
    <ds:schemaRef ds:uri="15e8d7af-f267-42fe-9afd-60eab1cb2c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514</TotalTime>
  <Words>1221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Personalizar design</vt:lpstr>
      <vt:lpstr>1_Tema do Office</vt:lpstr>
      <vt:lpstr>2_Tema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Hudson Silva Brito</dc:creator>
  <cp:lastModifiedBy>Ana Maria Bertini Mardegan</cp:lastModifiedBy>
  <cp:revision>32</cp:revision>
  <dcterms:created xsi:type="dcterms:W3CDTF">2019-05-07T20:03:33Z</dcterms:created>
  <dcterms:modified xsi:type="dcterms:W3CDTF">2024-09-15T18:33:23Z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0x010100A76C8E9EAF303849AA661597C48A6E8B</vt:lpwstr>
  </property>
  <property fmtid="{D5CDD505-2E9C-101B-9397-08002B2CF9AE}" pid="3" name="MSIP_Label_8121f2f0-66bc-46a5-8449-e93debbabc43_Enabled">
    <vt:lpwstr>true</vt:lpwstr>
  </property>
  <property fmtid="{D5CDD505-2E9C-101B-9397-08002B2CF9AE}" pid="4" name="MSIP_Label_8121f2f0-66bc-46a5-8449-e93debbabc43_SetDate">
    <vt:lpwstr>2024-09-13T10:18:49Z</vt:lpwstr>
  </property>
  <property fmtid="{D5CDD505-2E9C-101B-9397-08002B2CF9AE}" pid="5" name="MSIP_Label_8121f2f0-66bc-46a5-8449-e93debbabc43_Method">
    <vt:lpwstr>Standard</vt:lpwstr>
  </property>
  <property fmtid="{D5CDD505-2E9C-101B-9397-08002B2CF9AE}" pid="6" name="MSIP_Label_8121f2f0-66bc-46a5-8449-e93debbabc43_Name">
    <vt:lpwstr>defa4170-0d19-0005-0004-bc88714345d2</vt:lpwstr>
  </property>
  <property fmtid="{D5CDD505-2E9C-101B-9397-08002B2CF9AE}" pid="7" name="MSIP_Label_8121f2f0-66bc-46a5-8449-e93debbabc43_SiteId">
    <vt:lpwstr>2795008d-a527-4c78-ba2d-bf4c9c17de0b</vt:lpwstr>
  </property>
  <property fmtid="{D5CDD505-2E9C-101B-9397-08002B2CF9AE}" pid="8" name="MSIP_Label_8121f2f0-66bc-46a5-8449-e93debbabc43_ActionId">
    <vt:lpwstr>3fdab666-ef0b-4d8f-8195-32d1dbcd4bb0</vt:lpwstr>
  </property>
  <property fmtid="{D5CDD505-2E9C-101B-9397-08002B2CF9AE}" pid="9" name="MSIP_Label_8121f2f0-66bc-46a5-8449-e93debbabc43_ContentBits">
    <vt:lpwstr>0</vt:lpwstr>
  </property>
  <property fmtid="{D5CDD505-2E9C-101B-9397-08002B2CF9AE}" pid="10" name="MediaServiceImageTags">
    <vt:lpwstr/>
  </property>
</Properties>
</file>